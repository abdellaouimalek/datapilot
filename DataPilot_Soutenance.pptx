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 rot="1200000">
            <a:off x="8412480" y="-731520"/>
            <a:ext cx="5029200" cy="8686800"/>
          </a:xfrm>
          <a:prstGeom prst="parallelogram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486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C5B2"/>
                </a:solidFill>
                <a:latin typeface="Consolas"/>
              </a:rPr>
              <a:t>DATAPILOT · PROJET DE FIN D'ÉTUDES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48840"/>
            <a:ext cx="9875520" cy="2377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000"/>
              </a:lnSpc>
            </a:pPr>
            <a:r>
              <a:rPr sz="3100" b="0" i="0">
                <a:solidFill>
                  <a:srgbClr val="FFFFFF"/>
                </a:solidFill>
                <a:latin typeface="Georgia"/>
              </a:rPr>
              <a:t>Outil de gestion de la maturité data</a:t>
            </a:r>
          </a:p>
          <a:p>
            <a:pPr algn="l">
              <a:lnSpc>
                <a:spcPct val="114000"/>
              </a:lnSpc>
            </a:pPr>
            <a:r>
              <a:rPr sz="3100" b="0" i="0">
                <a:solidFill>
                  <a:srgbClr val="FFFFFF"/>
                </a:solidFill>
                <a:latin typeface="Georgia"/>
              </a:rPr>
              <a:t>et accélérateur de transformation</a:t>
            </a:r>
          </a:p>
          <a:p>
            <a:pPr algn="l">
              <a:lnSpc>
                <a:spcPct val="114000"/>
              </a:lnSpc>
            </a:pPr>
            <a:r>
              <a:rPr sz="3100" b="0" i="0">
                <a:solidFill>
                  <a:srgbClr val="FFFFFF"/>
                </a:solidFill>
                <a:latin typeface="Georgia"/>
              </a:rPr>
              <a:t>digitale pour les banques tunisiennes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61772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9C5B2"/>
                </a:solidFill>
                <a:latin typeface="Segoe UI"/>
              </a:rPr>
              <a:t>Diagnostic structuré · Plan d'action priorisé par IA · Veille réglementaire automatisée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8978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Malek Abdellaoui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199632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9C5B2"/>
                </a:solidFill>
                <a:latin typeface="Segoe UI"/>
              </a:rPr>
              <a:t>Ingénieur Data Science — Projet de fin d'études, EY Tunisie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37286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B876F"/>
                </a:solidFill>
                <a:latin typeface="Consolas"/>
              </a:rPr>
              <a:t>SOMMAIRE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17160F"/>
                </a:solidFill>
                <a:latin typeface="Georgia"/>
              </a:rPr>
              <a:t>Ce que couvre cette présentation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55080"/>
            <a:ext cx="11002975" cy="9525"/>
          </a:xfrm>
          <a:prstGeom prst="rect">
            <a:avLst/>
          </a:prstGeom>
          <a:solidFill>
            <a:srgbClr val="E4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876F"/>
                </a:solidFill>
                <a:latin typeface="Consolas"/>
              </a:rPr>
              <a:t>DataPilot — EY Tunisie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25735" y="642823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876F"/>
                </a:solidFill>
                <a:latin typeface="Consolas"/>
              </a:rPr>
              <a:t>02 /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0312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E600"/>
                </a:solidFill>
                <a:latin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03120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7160F"/>
                </a:solidFill>
                <a:latin typeface="Segoe UI"/>
              </a:rPr>
              <a:t>Contexte &amp; enjeux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432304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B876F"/>
                </a:solidFill>
                <a:latin typeface="Segoe UI"/>
              </a:rPr>
              <a:t>Les défis data des banques tunisiennes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6324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E600"/>
                </a:solidFill>
                <a:latin typeface="Consola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063240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7160F"/>
                </a:solidFill>
                <a:latin typeface="Segoe UI"/>
              </a:rPr>
              <a:t>La solution DataPilot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392424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B876F"/>
                </a:solidFill>
                <a:latin typeface="Segoe UI"/>
              </a:rPr>
              <a:t>Diagnostic, priorisation, veille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02336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E600"/>
                </a:solidFill>
                <a:latin typeface="Consola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023360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7160F"/>
                </a:solidFill>
                <a:latin typeface="Segoe UI"/>
              </a:rPr>
              <a:t>Architecture &amp; stack technique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352544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B876F"/>
                </a:solidFill>
                <a:latin typeface="Segoe UI"/>
              </a:rPr>
              <a:t>React, FastAPI, PostgreSQL, pgvector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9834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E600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983480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7160F"/>
                </a:solidFill>
                <a:latin typeface="Segoe UI"/>
              </a:rPr>
              <a:t>Pipeline Machine Learning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312664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B876F"/>
                </a:solidFill>
                <a:latin typeface="Segoe UI"/>
              </a:rPr>
              <a:t>Scoring, Learning-to-Rank, SHAP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10312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E600"/>
                </a:solidFill>
                <a:latin typeface="Consola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2066544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7160F"/>
                </a:solidFill>
                <a:latin typeface="Segoe UI"/>
              </a:rPr>
              <a:t>Pipeline RAG &amp; LLM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2432304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B876F"/>
                </a:solidFill>
                <a:latin typeface="Segoe UI"/>
              </a:rPr>
              <a:t>Veille réglementaire automatisée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06324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E600"/>
                </a:solidFill>
                <a:latin typeface="Consolas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063240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7160F"/>
                </a:solidFill>
                <a:latin typeface="Segoe UI"/>
              </a:rPr>
              <a:t>Fiabilité &amp; gouvernance 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392424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B876F"/>
                </a:solidFill>
                <a:latin typeface="Segoe UI"/>
              </a:rPr>
              <a:t>Garde-fous, validation humaine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02336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E600"/>
                </a:solidFill>
                <a:latin typeface="Consolas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4023360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7160F"/>
                </a:solidFill>
                <a:latin typeface="Segoe UI"/>
              </a:rPr>
              <a:t>Cas d'usage &amp; fonctionnalités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4352544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B876F"/>
                </a:solidFill>
                <a:latin typeface="Segoe UI"/>
              </a:rPr>
              <a:t>Ce que l'outil permet de faire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49834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E600"/>
                </a:solidFill>
                <a:latin typeface="Consolas"/>
              </a:rP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4983480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7160F"/>
                </a:solidFill>
                <a:latin typeface="Segoe UI"/>
              </a:rPr>
              <a:t>Chiffres clés &amp; conclusion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5312664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B876F"/>
                </a:solidFill>
                <a:latin typeface="Segoe UI"/>
              </a:rPr>
              <a:t>Résultats mesurés, perspectives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B876F"/>
                </a:solidFill>
                <a:latin typeface="Consolas"/>
              </a:rPr>
              <a:t>01 · CONTEXTE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17160F"/>
                </a:solidFill>
                <a:latin typeface="Georgia"/>
              </a:rPr>
              <a:t>Les banques tunisiennes face à leurs données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55080"/>
            <a:ext cx="11002975" cy="9525"/>
          </a:xfrm>
          <a:prstGeom prst="rect">
            <a:avLst/>
          </a:prstGeom>
          <a:solidFill>
            <a:srgbClr val="E4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876F"/>
                </a:solidFill>
                <a:latin typeface="Consolas"/>
              </a:rPr>
              <a:t>DataPilot — EY Tunisie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25735" y="642823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876F"/>
                </a:solidFill>
                <a:latin typeface="Consolas"/>
              </a:rPr>
              <a:t>03 /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600" b="0" i="1">
                <a:solidFill>
                  <a:srgbClr val="4A4838"/>
                </a:solidFill>
                <a:latin typeface="Georgia"/>
              </a:rPr>
              <a:t>Une pression croissante, sans outil structuré pour la mesurer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43200"/>
            <a:ext cx="10515600" cy="3200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500" b="1">
                <a:solidFill>
                  <a:srgbClr val="FFE600"/>
                </a:solidFill>
                <a:latin typeface="Segoe UI"/>
              </a:rPr>
              <a:t>—  </a:t>
            </a:r>
            <a:r>
              <a:rPr sz="1500" b="1">
                <a:solidFill>
                  <a:srgbClr val="17160F"/>
                </a:solidFill>
                <a:latin typeface="Segoe UI"/>
              </a:rPr>
              <a:t>Pression réglementaire croissante</a:t>
            </a:r>
            <a:r>
              <a:rPr sz="1500">
                <a:solidFill>
                  <a:srgbClr val="4A4838"/>
                </a:solidFill>
                <a:latin typeface="Segoe UI"/>
              </a:rPr>
              <a:t> — circulaires BCT de plus en plus fréquentes, à traduire en actions concrètes.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500" b="1">
                <a:solidFill>
                  <a:srgbClr val="FFE600"/>
                </a:solidFill>
                <a:latin typeface="Segoe UI"/>
              </a:rPr>
              <a:t>—  </a:t>
            </a:r>
            <a:r>
              <a:rPr sz="1500" b="1">
                <a:solidFill>
                  <a:srgbClr val="17160F"/>
                </a:solidFill>
                <a:latin typeface="Segoe UI"/>
              </a:rPr>
              <a:t>Écosystèmes de données fragmentés</a:t>
            </a:r>
            <a:r>
              <a:rPr sz="1500">
                <a:solidFill>
                  <a:srgbClr val="4A4838"/>
                </a:solidFill>
                <a:latin typeface="Segoe UI"/>
              </a:rPr>
              <a:t> — silos entre directions, peu de vision consolidée.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500" b="1">
                <a:solidFill>
                  <a:srgbClr val="FFE600"/>
                </a:solidFill>
                <a:latin typeface="Segoe UI"/>
              </a:rPr>
              <a:t>—  </a:t>
            </a:r>
            <a:r>
              <a:rPr sz="1500" b="1">
                <a:solidFill>
                  <a:srgbClr val="17160F"/>
                </a:solidFill>
                <a:latin typeface="Segoe UI"/>
              </a:rPr>
              <a:t>Gouvernance et qualité inégales</a:t>
            </a:r>
            <a:r>
              <a:rPr sz="1500">
                <a:solidFill>
                  <a:srgbClr val="4A4838"/>
                </a:solidFill>
                <a:latin typeface="Segoe UI"/>
              </a:rPr>
              <a:t> — pas de référentiel commun pour situer la maturité réelle.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500" b="1">
                <a:solidFill>
                  <a:srgbClr val="FFE600"/>
                </a:solidFill>
                <a:latin typeface="Segoe UI"/>
              </a:rPr>
              <a:t>—  </a:t>
            </a:r>
            <a:r>
              <a:rPr sz="1500" b="1">
                <a:solidFill>
                  <a:srgbClr val="17160F"/>
                </a:solidFill>
                <a:latin typeface="Segoe UI"/>
              </a:rPr>
              <a:t>Décisions lentes, priorités peu claires</a:t>
            </a:r>
            <a:r>
              <a:rPr sz="1500">
                <a:solidFill>
                  <a:srgbClr val="4A4838"/>
                </a:solidFill>
                <a:latin typeface="Segoe UI"/>
              </a:rPr>
              <a:t> — difficile de savoir par où commencer, ni de mesurer le progrès.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B876F"/>
                </a:solidFill>
                <a:latin typeface="Consolas"/>
              </a:rPr>
              <a:t>02 · LA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17160F"/>
                </a:solidFill>
                <a:latin typeface="Georgia"/>
              </a:rPr>
              <a:t>DataPilot : mesurer, prioriser, suivre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55080"/>
            <a:ext cx="11002975" cy="9525"/>
          </a:xfrm>
          <a:prstGeom prst="rect">
            <a:avLst/>
          </a:prstGeom>
          <a:solidFill>
            <a:srgbClr val="E4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876F"/>
                </a:solidFill>
                <a:latin typeface="Consolas"/>
              </a:rPr>
              <a:t>DataPilot — EY Tunisie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25735" y="642823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876F"/>
                </a:solidFill>
                <a:latin typeface="Consolas"/>
              </a:rPr>
              <a:t>04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57400"/>
            <a:ext cx="342900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240280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8B876F"/>
                </a:solidFill>
                <a:latin typeface="Consolas"/>
              </a:rPr>
              <a:t>DIAGNOSTIC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32888"/>
            <a:ext cx="306324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7160F"/>
                </a:solidFill>
                <a:latin typeface="Segoe UI"/>
              </a:rPr>
              <a:t>Évaluation structurée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26080"/>
            <a:ext cx="3063240" cy="2651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A4838"/>
                </a:solidFill>
                <a:latin typeface="Segoe UI"/>
              </a:rPr>
              <a:t>Questionnaire de maturité data (32 questions, 6 dimensions pondérées), scoring automatique et positionnement sur 5 niveaux de maturité.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9392" y="2057400"/>
            <a:ext cx="342900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62272" y="2240280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8B876F"/>
                </a:solidFill>
                <a:latin typeface="Consolas"/>
              </a:rPr>
              <a:t>PRIORISATION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2532888"/>
            <a:ext cx="306324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7160F"/>
                </a:solidFill>
                <a:latin typeface="Segoe UI"/>
              </a:rPr>
              <a:t>Plan d'action par 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2926080"/>
            <a:ext cx="3063240" cy="2651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A4838"/>
                </a:solidFill>
                <a:latin typeface="Segoe UI"/>
              </a:rPr>
              <a:t>Les recommandations candidates sont classées par un modèle de Learning-to-Rank — jamais un ordre arbitraire, jamais une liste plate.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64424" y="2057400"/>
            <a:ext cx="342900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47304" y="2240280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8B876F"/>
                </a:solidFill>
                <a:latin typeface="Consolas"/>
              </a:rPr>
              <a:t>VEILLE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47304" y="2532888"/>
            <a:ext cx="306324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7160F"/>
                </a:solidFill>
                <a:latin typeface="Segoe UI"/>
              </a:rPr>
              <a:t>Conformité réglementaire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7304" y="2926080"/>
            <a:ext cx="3063240" cy="2651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A4838"/>
                </a:solidFill>
                <a:latin typeface="Segoe UI"/>
              </a:rPr>
              <a:t>Chaque nouvelle circulaire est analysée automatiquement (RAG + LLM) et confrontée au référentiel — proposition, jamais application sans validation humaine.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B876F"/>
                </a:solidFill>
                <a:latin typeface="Consolas"/>
              </a:rPr>
              <a:t>03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17160F"/>
                </a:solidFill>
                <a:latin typeface="Georgia"/>
              </a:rPr>
              <a:t>Trois services, une base de données commune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55080"/>
            <a:ext cx="11002975" cy="9525"/>
          </a:xfrm>
          <a:prstGeom prst="rect">
            <a:avLst/>
          </a:prstGeom>
          <a:solidFill>
            <a:srgbClr val="E4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876F"/>
                </a:solidFill>
                <a:latin typeface="Consolas"/>
              </a:rPr>
              <a:t>DataPilot — EY Tunisie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25735" y="642823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876F"/>
                </a:solidFill>
                <a:latin typeface="Consolas"/>
              </a:rPr>
              <a:t>05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194560"/>
            <a:ext cx="329184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17160F"/>
                </a:solidFill>
                <a:latin typeface="Segoe UI"/>
              </a:rPr>
              <a:t>Frontend</a:t>
            </a:r>
          </a:p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17160F"/>
                </a:solidFill>
                <a:latin typeface="Segoe UI"/>
              </a:rPr>
              <a:t>React + TypeScript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2194560"/>
            <a:ext cx="32004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8B876F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2194560"/>
            <a:ext cx="329184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80" y="2194560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17160F"/>
                </a:solidFill>
                <a:latin typeface="Segoe UI"/>
              </a:rPr>
              <a:t>Backend</a:t>
            </a:r>
          </a:p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17160F"/>
                </a:solidFill>
                <a:latin typeface="Segoe UI"/>
              </a:rPr>
              <a:t>FastAPI (Python)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0" y="2194560"/>
            <a:ext cx="32004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8B876F"/>
                </a:solidFill>
                <a:latin typeface="Segoe U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2194560"/>
            <a:ext cx="329184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09560" y="2194560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17160F"/>
                </a:solidFill>
                <a:latin typeface="Segoe UI"/>
              </a:rPr>
              <a:t>PostgreSQL</a:t>
            </a:r>
          </a:p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17160F"/>
                </a:solidFill>
                <a:latin typeface="Segoe UI"/>
              </a:rPr>
              <a:t>+ pgvector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3832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8B876F"/>
                </a:solidFill>
                <a:latin typeface="Consolas"/>
              </a:rPr>
              <a:t>AUTHENTIFICATION &amp; IDENTITÉ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703320"/>
            <a:ext cx="240030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3703320"/>
            <a:ext cx="221742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17160F"/>
                </a:solidFill>
                <a:latin typeface="Segoe UI"/>
              </a:rPr>
              <a:t>Keycloak (SSO)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4660" y="3703320"/>
            <a:ext cx="32004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8B876F"/>
                </a:solidFill>
                <a:latin typeface="Segoe U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14700" y="3703320"/>
            <a:ext cx="240030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06140" y="3703320"/>
            <a:ext cx="221742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17160F"/>
                </a:solidFill>
                <a:latin typeface="Segoe UI"/>
              </a:rPr>
              <a:t>Thème EY sur-mesure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6177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8B876F"/>
                </a:solidFill>
                <a:latin typeface="Consolas"/>
              </a:rPr>
              <a:t>SERVICES IA (à l'intérieur du backend)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937760"/>
            <a:ext cx="238887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4937760"/>
            <a:ext cx="220599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17160F"/>
                </a:solidFill>
                <a:latin typeface="Segoe UI"/>
              </a:rPr>
              <a:t>Moteur de scoring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83230" y="4937760"/>
            <a:ext cx="32004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8B876F"/>
                </a:solidFill>
                <a:latin typeface="Segoe U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03270" y="4937760"/>
            <a:ext cx="238887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394710" y="4937760"/>
            <a:ext cx="220599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17160F"/>
                </a:solidFill>
                <a:latin typeface="Segoe UI"/>
              </a:rPr>
              <a:t>Ranking ML (LightGBM)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92140" y="4937760"/>
            <a:ext cx="32004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8B876F"/>
                </a:solidFill>
                <a:latin typeface="Segoe U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12180" y="4937760"/>
            <a:ext cx="238887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03620" y="4937760"/>
            <a:ext cx="220599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17160F"/>
                </a:solidFill>
                <a:latin typeface="Segoe UI"/>
              </a:rPr>
              <a:t>RAG (pgvector)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01050" y="4937760"/>
            <a:ext cx="32004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8B876F"/>
                </a:solidFill>
                <a:latin typeface="Segoe UI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21090" y="4937760"/>
            <a:ext cx="238887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812530" y="4937760"/>
            <a:ext cx="220599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17160F"/>
                </a:solidFill>
                <a:latin typeface="Segoe UI"/>
              </a:rPr>
              <a:t>LLM (Gemini / Ollama)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58064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150" b="1">
                <a:solidFill>
                  <a:srgbClr val="FFE600"/>
                </a:solidFill>
                <a:latin typeface="Segoe UI"/>
              </a:rPr>
              <a:t>—  </a:t>
            </a:r>
            <a:r>
              <a:rPr sz="1150">
                <a:solidFill>
                  <a:srgbClr val="4A4838"/>
                </a:solidFill>
                <a:latin typeface="Segoe UI"/>
              </a:rPr>
              <a:t>Conteneurisé (Docker) pour Keycloak et PostgreSQL — même stack en local et en déploiement.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B876F"/>
                </a:solidFill>
                <a:latin typeface="Consolas"/>
              </a:rPr>
              <a:t>03 · STACK TECHNIQUE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17160F"/>
                </a:solidFill>
                <a:latin typeface="Georgia"/>
              </a:rPr>
              <a:t>Des choix technologiques éprouvés, pas des effets de mode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55080"/>
            <a:ext cx="11002975" cy="9525"/>
          </a:xfrm>
          <a:prstGeom prst="rect">
            <a:avLst/>
          </a:prstGeom>
          <a:solidFill>
            <a:srgbClr val="E4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876F"/>
                </a:solidFill>
                <a:latin typeface="Consolas"/>
              </a:rPr>
              <a:t>DataPilot — EY Tunisie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25735" y="642823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876F"/>
                </a:solidFill>
                <a:latin typeface="Consolas"/>
              </a:rPr>
              <a:t>06 /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542032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7160F"/>
                </a:solidFill>
                <a:latin typeface="Consolas"/>
              </a:rPr>
              <a:t>FRONTEND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359152"/>
            <a:ext cx="457200" cy="3175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560320"/>
            <a:ext cx="2542032" cy="3200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200" b="1">
                <a:solidFill>
                  <a:srgbClr val="FFE600"/>
                </a:solidFill>
                <a:latin typeface="Segoe UI"/>
              </a:rPr>
              <a:t>—  </a:t>
            </a:r>
            <a:r>
              <a:rPr sz="1200">
                <a:solidFill>
                  <a:srgbClr val="4A4838"/>
                </a:solidFill>
                <a:latin typeface="Segoe UI"/>
              </a:rPr>
              <a:t>React 18 + TypeScript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200" b="1">
                <a:solidFill>
                  <a:srgbClr val="FFE600"/>
                </a:solidFill>
                <a:latin typeface="Segoe UI"/>
              </a:rPr>
              <a:t>—  </a:t>
            </a:r>
            <a:r>
              <a:rPr sz="1200">
                <a:solidFill>
                  <a:srgbClr val="4A4838"/>
                </a:solidFill>
                <a:latin typeface="Segoe UI"/>
              </a:rPr>
              <a:t>Tailwind CSS 4 + Radix UI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200" b="1">
                <a:solidFill>
                  <a:srgbClr val="FFE600"/>
                </a:solidFill>
                <a:latin typeface="Segoe UI"/>
              </a:rPr>
              <a:t>—  </a:t>
            </a:r>
            <a:r>
              <a:rPr sz="1200">
                <a:solidFill>
                  <a:srgbClr val="4A4838"/>
                </a:solidFill>
                <a:latin typeface="Segoe UI"/>
              </a:rPr>
              <a:t>Recharts (visualisation)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200" b="1">
                <a:solidFill>
                  <a:srgbClr val="FFE600"/>
                </a:solidFill>
                <a:latin typeface="Segoe UI"/>
              </a:rPr>
              <a:t>—  </a:t>
            </a:r>
            <a:r>
              <a:rPr sz="1200">
                <a:solidFill>
                  <a:srgbClr val="4A4838"/>
                </a:solidFill>
                <a:latin typeface="Segoe UI"/>
              </a:rPr>
              <a:t>React Router, Vite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4408" y="2057400"/>
            <a:ext cx="2542032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7160F"/>
                </a:solidFill>
                <a:latin typeface="Consolas"/>
              </a:rPr>
              <a:t>BACKEND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64408" y="2359152"/>
            <a:ext cx="457200" cy="3175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64408" y="2560320"/>
            <a:ext cx="2542032" cy="3200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200" b="1">
                <a:solidFill>
                  <a:srgbClr val="FFE600"/>
                </a:solidFill>
                <a:latin typeface="Segoe UI"/>
              </a:rPr>
              <a:t>—  </a:t>
            </a:r>
            <a:r>
              <a:rPr sz="1200">
                <a:solidFill>
                  <a:srgbClr val="4A4838"/>
                </a:solidFill>
                <a:latin typeface="Segoe UI"/>
              </a:rPr>
              <a:t>FastAPI (async)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200" b="1">
                <a:solidFill>
                  <a:srgbClr val="FFE600"/>
                </a:solidFill>
                <a:latin typeface="Segoe UI"/>
              </a:rPr>
              <a:t>—  </a:t>
            </a:r>
            <a:r>
              <a:rPr sz="1200">
                <a:solidFill>
                  <a:srgbClr val="4A4838"/>
                </a:solidFill>
                <a:latin typeface="Segoe UI"/>
              </a:rPr>
              <a:t>SQLAlchemy 2 (async) + Alembic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200" b="1">
                <a:solidFill>
                  <a:srgbClr val="FFE600"/>
                </a:solidFill>
                <a:latin typeface="Segoe UI"/>
              </a:rPr>
              <a:t>—  </a:t>
            </a:r>
            <a:r>
              <a:rPr sz="1200">
                <a:solidFill>
                  <a:srgbClr val="4A4838"/>
                </a:solidFill>
                <a:latin typeface="Segoe UI"/>
              </a:rPr>
              <a:t>33 migrations de schéma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200" b="1">
                <a:solidFill>
                  <a:srgbClr val="FFE600"/>
                </a:solidFill>
                <a:latin typeface="Segoe UI"/>
              </a:rPr>
              <a:t>—  </a:t>
            </a:r>
            <a:r>
              <a:rPr sz="1200">
                <a:solidFill>
                  <a:srgbClr val="4A4838"/>
                </a:solidFill>
                <a:latin typeface="Segoe UI"/>
              </a:rPr>
              <a:t>Pydantic (validation)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34456" y="2057400"/>
            <a:ext cx="2542032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7160F"/>
                </a:solidFill>
                <a:latin typeface="Consolas"/>
              </a:rPr>
              <a:t>DONNÉES &amp; IA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34456" y="2359152"/>
            <a:ext cx="457200" cy="3175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34456" y="2560320"/>
            <a:ext cx="2542032" cy="3200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200" b="1">
                <a:solidFill>
                  <a:srgbClr val="FFE600"/>
                </a:solidFill>
                <a:latin typeface="Segoe UI"/>
              </a:rPr>
              <a:t>—  </a:t>
            </a:r>
            <a:r>
              <a:rPr sz="1200">
                <a:solidFill>
                  <a:srgbClr val="4A4838"/>
                </a:solidFill>
                <a:latin typeface="Segoe UI"/>
              </a:rPr>
              <a:t>PostgreSQL + pgvector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200" b="1">
                <a:solidFill>
                  <a:srgbClr val="FFE600"/>
                </a:solidFill>
                <a:latin typeface="Segoe UI"/>
              </a:rPr>
              <a:t>—  </a:t>
            </a:r>
            <a:r>
              <a:rPr sz="1200">
                <a:solidFill>
                  <a:srgbClr val="4A4838"/>
                </a:solidFill>
                <a:latin typeface="Segoe UI"/>
              </a:rPr>
              <a:t>LightGBM, scikit-learn, SHAP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200" b="1">
                <a:solidFill>
                  <a:srgbClr val="FFE600"/>
                </a:solidFill>
                <a:latin typeface="Segoe UI"/>
              </a:rPr>
              <a:t>—  </a:t>
            </a:r>
            <a:r>
              <a:rPr sz="1200">
                <a:solidFill>
                  <a:srgbClr val="4A4838"/>
                </a:solidFill>
                <a:latin typeface="Segoe UI"/>
              </a:rPr>
              <a:t>bge-m3 (embeddings, 1024-d)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200" b="1">
                <a:solidFill>
                  <a:srgbClr val="FFE600"/>
                </a:solidFill>
                <a:latin typeface="Segoe UI"/>
              </a:rPr>
              <a:t>—  </a:t>
            </a:r>
            <a:r>
              <a:rPr sz="1200">
                <a:solidFill>
                  <a:srgbClr val="4A4838"/>
                </a:solidFill>
                <a:latin typeface="Segoe UI"/>
              </a:rPr>
              <a:t>Gemini + Ollama (LLM)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4504" y="2057400"/>
            <a:ext cx="2542032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7160F"/>
                </a:solidFill>
                <a:latin typeface="Consolas"/>
              </a:rPr>
              <a:t>INFRA &amp; SÉCURITÉ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04504" y="2359152"/>
            <a:ext cx="457200" cy="3175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04504" y="2560320"/>
            <a:ext cx="2542032" cy="3200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200" b="1">
                <a:solidFill>
                  <a:srgbClr val="FFE600"/>
                </a:solidFill>
                <a:latin typeface="Segoe UI"/>
              </a:rPr>
              <a:t>—  </a:t>
            </a:r>
            <a:r>
              <a:rPr sz="1200">
                <a:solidFill>
                  <a:srgbClr val="4A4838"/>
                </a:solidFill>
                <a:latin typeface="Segoe UI"/>
              </a:rPr>
              <a:t>Keycloak (SSO, RBAC)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200" b="1">
                <a:solidFill>
                  <a:srgbClr val="FFE600"/>
                </a:solidFill>
                <a:latin typeface="Segoe UI"/>
              </a:rPr>
              <a:t>—  </a:t>
            </a:r>
            <a:r>
              <a:rPr sz="1200">
                <a:solidFill>
                  <a:srgbClr val="4A4838"/>
                </a:solidFill>
                <a:latin typeface="Segoe UI"/>
              </a:rPr>
              <a:t>Docker Compose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200" b="1">
                <a:solidFill>
                  <a:srgbClr val="FFE600"/>
                </a:solidFill>
                <a:latin typeface="Segoe UI"/>
              </a:rPr>
              <a:t>—  </a:t>
            </a:r>
            <a:r>
              <a:rPr sz="1200">
                <a:solidFill>
                  <a:srgbClr val="4A4838"/>
                </a:solidFill>
                <a:latin typeface="Segoe UI"/>
              </a:rPr>
              <a:t>Audit trail (logs d'actions)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200" b="1">
                <a:solidFill>
                  <a:srgbClr val="FFE600"/>
                </a:solidFill>
                <a:latin typeface="Segoe UI"/>
              </a:rPr>
              <a:t>—  </a:t>
            </a:r>
            <a:r>
              <a:rPr sz="1200">
                <a:solidFill>
                  <a:srgbClr val="4A4838"/>
                </a:solidFill>
                <a:latin typeface="Segoe UI"/>
              </a:rPr>
              <a:t>WeasyPrint (rapports PDF)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B876F"/>
                </a:solidFill>
                <a:latin typeface="Consolas"/>
              </a:rPr>
              <a:t>04 · PIPELINE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17160F"/>
                </a:solidFill>
                <a:latin typeface="Georgia"/>
              </a:rPr>
              <a:t>Deux systèmes IA, deux logiques différentes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55080"/>
            <a:ext cx="11002975" cy="9525"/>
          </a:xfrm>
          <a:prstGeom prst="rect">
            <a:avLst/>
          </a:prstGeom>
          <a:solidFill>
            <a:srgbClr val="E4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876F"/>
                </a:solidFill>
                <a:latin typeface="Consolas"/>
              </a:rPr>
              <a:t>DataPilot — EY Tunisie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25735" y="642823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876F"/>
                </a:solidFill>
                <a:latin typeface="Consolas"/>
              </a:rPr>
              <a:t>07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57400"/>
            <a:ext cx="51663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240280"/>
            <a:ext cx="4800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8B876F"/>
                </a:solidFill>
                <a:latin typeface="Consolas"/>
              </a:rPr>
              <a:t>PILIER 1 — 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32888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7160F"/>
                </a:solidFill>
                <a:latin typeface="Segoe UI"/>
              </a:rPr>
              <a:t>Prioriser les recommandations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26080"/>
            <a:ext cx="4800600" cy="2651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A4838"/>
                </a:solidFill>
                <a:latin typeface="Segoe UI"/>
              </a:rPr>
              <a:t>Un modèle appris (Learning-to-Rank) classe les recommandations candidates par pertinence pour une banque donnée. Validé par validation croisée répétée et significativité statistique. Explicable (SHAP) à chaque prédiction.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16752" y="2057400"/>
            <a:ext cx="51663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99632" y="2240280"/>
            <a:ext cx="4800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8B876F"/>
                </a:solidFill>
                <a:latin typeface="Consolas"/>
              </a:rPr>
              <a:t>PILIER 2 — RAG &amp; LLM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632" y="2532888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7160F"/>
                </a:solidFill>
                <a:latin typeface="Segoe UI"/>
              </a:rPr>
              <a:t>Analyser la réglementation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632" y="2926080"/>
            <a:ext cx="4800600" cy="2651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A4838"/>
                </a:solidFill>
                <a:latin typeface="Segoe UI"/>
              </a:rPr>
              <a:t>Chaque circulaire est confrontée au référentiel par recherche vectorielle (RAG), puis analysée par un LLM sous contrainte stricte de fidélité. Aucune proposition n'est jamais appliquée sans validation humaine.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B876F"/>
                </a:solidFill>
                <a:latin typeface="Consolas"/>
              </a:rPr>
              <a:t>04 ·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17160F"/>
                </a:solidFill>
                <a:latin typeface="Georgia"/>
              </a:rPr>
              <a:t>Du questionnaire au plan d'action priorisé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55080"/>
            <a:ext cx="11002975" cy="9525"/>
          </a:xfrm>
          <a:prstGeom prst="rect">
            <a:avLst/>
          </a:prstGeom>
          <a:solidFill>
            <a:srgbClr val="E4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876F"/>
                </a:solidFill>
                <a:latin typeface="Consolas"/>
              </a:rPr>
              <a:t>DataPilot — EY Tunisie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25735" y="642823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876F"/>
                </a:solidFill>
                <a:latin typeface="Consolas"/>
              </a:rPr>
              <a:t>08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103120"/>
            <a:ext cx="148590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103120"/>
            <a:ext cx="130302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17160F"/>
                </a:solidFill>
                <a:latin typeface="Segoe UI"/>
              </a:rPr>
              <a:t>Réponses au</a:t>
            </a:r>
          </a:p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17160F"/>
                </a:solidFill>
                <a:latin typeface="Segoe UI"/>
              </a:rPr>
              <a:t>questionnaire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80260" y="2103120"/>
            <a:ext cx="32004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8B876F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00300" y="2103120"/>
            <a:ext cx="148590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91740" y="2103120"/>
            <a:ext cx="130302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17160F"/>
                </a:solidFill>
                <a:latin typeface="Segoe UI"/>
              </a:rPr>
              <a:t>Scoring pondéré</a:t>
            </a:r>
          </a:p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17160F"/>
                </a:solidFill>
                <a:latin typeface="Segoe UI"/>
              </a:rPr>
              <a:t>par dimension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2103120"/>
            <a:ext cx="32004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8B876F"/>
                </a:solidFill>
                <a:latin typeface="Segoe U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2103120"/>
            <a:ext cx="148590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97680" y="2103120"/>
            <a:ext cx="130302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17160F"/>
                </a:solidFill>
                <a:latin typeface="Segoe UI"/>
              </a:rPr>
              <a:t>Génération des</a:t>
            </a:r>
          </a:p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17160F"/>
                </a:solidFill>
                <a:latin typeface="Segoe UI"/>
              </a:rPr>
              <a:t>candidats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92140" y="2103120"/>
            <a:ext cx="32004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8B876F"/>
                </a:solidFill>
                <a:latin typeface="Segoe U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12180" y="2103120"/>
            <a:ext cx="148590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03620" y="2103120"/>
            <a:ext cx="130302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17160F"/>
                </a:solidFill>
                <a:latin typeface="Segoe UI"/>
              </a:rPr>
              <a:t>Ranking</a:t>
            </a:r>
          </a:p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17160F"/>
                </a:solidFill>
                <a:latin typeface="Segoe UI"/>
              </a:rPr>
              <a:t>LightGBM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2103120"/>
            <a:ext cx="32004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8B876F"/>
                </a:solidFill>
                <a:latin typeface="Segoe U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2103120"/>
            <a:ext cx="148590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09560" y="2103120"/>
            <a:ext cx="130302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17160F"/>
                </a:solidFill>
                <a:latin typeface="Segoe UI"/>
              </a:rPr>
              <a:t>Explicabilité</a:t>
            </a:r>
          </a:p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17160F"/>
                </a:solidFill>
                <a:latin typeface="Segoe UI"/>
              </a:rPr>
              <a:t>SHAP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4020" y="2103120"/>
            <a:ext cx="32004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8B876F"/>
                </a:solidFill>
                <a:latin typeface="Segoe U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24060" y="2103120"/>
            <a:ext cx="148590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715500" y="2103120"/>
            <a:ext cx="130302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17160F"/>
                </a:solidFill>
                <a:latin typeface="Segoe UI"/>
              </a:rPr>
              <a:t>Plan d'action</a:t>
            </a:r>
          </a:p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17160F"/>
                </a:solidFill>
                <a:latin typeface="Segoe UI"/>
              </a:rPr>
              <a:t>priorisé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2461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8B876F"/>
                </a:solidFill>
                <a:latin typeface="Consolas"/>
              </a:rPr>
              <a:t>MODÈLE RETENU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3566160"/>
            <a:ext cx="5669280" cy="26517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50" b="1">
                <a:solidFill>
                  <a:srgbClr val="FFE600"/>
                </a:solidFill>
                <a:latin typeface="Segoe UI"/>
              </a:rPr>
              <a:t>—  </a:t>
            </a:r>
            <a:r>
              <a:rPr sz="1250" b="1">
                <a:solidFill>
                  <a:srgbClr val="17160F"/>
                </a:solidFill>
                <a:latin typeface="Segoe UI"/>
              </a:rPr>
              <a:t>Pointwise — LightGBM Regressor</a:t>
            </a:r>
            <a:r>
              <a:rPr sz="1250">
                <a:solidFill>
                  <a:srgbClr val="4A4838"/>
                </a:solidFill>
                <a:latin typeface="Segoe UI"/>
              </a:rPr>
              <a:t> sélectionné après comparaison de 3 paradigmes (pointwise, pairwise, listwise).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50" b="1">
                <a:solidFill>
                  <a:srgbClr val="FFE600"/>
                </a:solidFill>
                <a:latin typeface="Segoe UI"/>
              </a:rPr>
              <a:t>—  </a:t>
            </a:r>
            <a:r>
              <a:rPr sz="1250" b="1">
                <a:solidFill>
                  <a:srgbClr val="17160F"/>
                </a:solidFill>
                <a:latin typeface="Segoe UI"/>
              </a:rPr>
              <a:t>11 variables</a:t>
            </a:r>
            <a:r>
              <a:rPr sz="1250">
                <a:solidFill>
                  <a:srgbClr val="4A4838"/>
                </a:solidFill>
                <a:latin typeface="Segoe UI"/>
              </a:rPr>
              <a:t> par candidat : écart au niveau max, poids dans le score global, obligation réglementaire, effort...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250" b="1">
                <a:solidFill>
                  <a:srgbClr val="FFE600"/>
                </a:solidFill>
                <a:latin typeface="Segoe UI"/>
              </a:rPr>
              <a:t>—  </a:t>
            </a:r>
            <a:r>
              <a:rPr sz="1250" b="1">
                <a:solidFill>
                  <a:srgbClr val="17160F"/>
                </a:solidFill>
                <a:latin typeface="Segoe UI"/>
              </a:rPr>
              <a:t>Explicable en production</a:t>
            </a:r>
            <a:r>
              <a:rPr sz="1250">
                <a:solidFill>
                  <a:srgbClr val="4A4838"/>
                </a:solidFill>
                <a:latin typeface="Segoe UI"/>
              </a:rPr>
              <a:t> — chaque score est décomposé (SHAP) pour justifier la priorité affichée à la banque.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20840" y="3566160"/>
            <a:ext cx="1828800" cy="1234440"/>
          </a:xfrm>
          <a:prstGeom prst="roundRect">
            <a:avLst>
              <a:gd name="adj" fmla="val 6000"/>
            </a:avLst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85432" y="3694176"/>
            <a:ext cx="1499616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7160F"/>
                </a:solidFill>
                <a:latin typeface="Consolas"/>
              </a:rPr>
              <a:t>0,9801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85432" y="4142232"/>
            <a:ext cx="1499616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4A4838"/>
                </a:solidFill>
                <a:latin typeface="Segoe UI"/>
              </a:rPr>
              <a:t>NDCG@5</a:t>
            </a:r>
          </a:p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4A4838"/>
                </a:solidFill>
                <a:latin typeface="Segoe UI"/>
              </a:rPr>
              <a:t>(modèle retenu)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0" y="3566160"/>
            <a:ext cx="18288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851392" y="3694176"/>
            <a:ext cx="1499616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7160F"/>
                </a:solidFill>
                <a:latin typeface="Consolas"/>
              </a:rPr>
              <a:t>0,8497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51392" y="4142232"/>
            <a:ext cx="1499616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8B876F"/>
                </a:solidFill>
                <a:latin typeface="Segoe UI"/>
              </a:rPr>
              <a:t>NDCG@5</a:t>
            </a:r>
          </a:p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8B876F"/>
                </a:solidFill>
                <a:latin typeface="Segoe UI"/>
              </a:rPr>
              <a:t>(référence heuristique)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20840" y="4937760"/>
            <a:ext cx="18288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85432" y="5065776"/>
            <a:ext cx="1499616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7160F"/>
                </a:solidFill>
                <a:latin typeface="Consolas"/>
              </a:rPr>
              <a:t>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85432" y="5513832"/>
            <a:ext cx="1499616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8B876F"/>
                </a:solidFill>
                <a:latin typeface="Segoe UI"/>
              </a:rPr>
              <a:t>estimations</a:t>
            </a:r>
          </a:p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8B876F"/>
                </a:solidFill>
                <a:latin typeface="Segoe UI"/>
              </a:rPr>
              <a:t>indépendantes (CV)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86800" y="4937760"/>
            <a:ext cx="18288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851392" y="5065776"/>
            <a:ext cx="1499616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7160F"/>
                </a:solidFill>
                <a:latin typeface="Consolas"/>
              </a:rPr>
              <a:t>p &lt; 1e-3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51392" y="5513832"/>
            <a:ext cx="1499616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8B876F"/>
                </a:solidFill>
                <a:latin typeface="Segoe UI"/>
              </a:rPr>
              <a:t>significativité</a:t>
            </a:r>
          </a:p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8B876F"/>
                </a:solidFill>
                <a:latin typeface="Segoe UI"/>
              </a:rPr>
              <a:t>(Wilcoxon)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B876F"/>
                </a:solidFill>
                <a:latin typeface="Consolas"/>
              </a:rPr>
              <a:t>04 ·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17160F"/>
                </a:solidFill>
                <a:latin typeface="Georgia"/>
              </a:rPr>
              <a:t>Une méthodologie qui résiste à l'examen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55080"/>
            <a:ext cx="11002975" cy="9525"/>
          </a:xfrm>
          <a:prstGeom prst="rect">
            <a:avLst/>
          </a:prstGeom>
          <a:solidFill>
            <a:srgbClr val="E4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876F"/>
                </a:solidFill>
                <a:latin typeface="Consolas"/>
              </a:rPr>
              <a:t>DataPilot — EY Tunisie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25735" y="642823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876F"/>
                </a:solidFill>
                <a:latin typeface="Consolas"/>
              </a:rPr>
              <a:t>09 /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10515600" cy="23774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300" b="1">
                <a:solidFill>
                  <a:srgbClr val="FFE600"/>
                </a:solidFill>
                <a:latin typeface="Segoe UI"/>
              </a:rPr>
              <a:t>—  </a:t>
            </a:r>
            <a:r>
              <a:rPr sz="1300" b="1">
                <a:solidFill>
                  <a:srgbClr val="17160F"/>
                </a:solidFill>
                <a:latin typeface="Segoe UI"/>
              </a:rPr>
              <a:t>Validation croisée répétée</a:t>
            </a:r>
            <a:r>
              <a:rPr sz="1300">
                <a:solidFill>
                  <a:srgbClr val="4A4838"/>
                </a:solidFill>
                <a:latin typeface="Segoe UI"/>
              </a:rPr>
              <a:t> — 5 plis × 5 graines (GroupKFold sur l'évaluation entière), soit 25 estimations indépendantes plutôt qu'un seul découpage chanceux.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300" b="1">
                <a:solidFill>
                  <a:srgbClr val="FFE600"/>
                </a:solidFill>
                <a:latin typeface="Segoe UI"/>
              </a:rPr>
              <a:t>—  </a:t>
            </a:r>
            <a:r>
              <a:rPr sz="1300" b="1">
                <a:solidFill>
                  <a:srgbClr val="17160F"/>
                </a:solidFill>
                <a:latin typeface="Segoe UI"/>
              </a:rPr>
              <a:t>Aucune fuite de données</a:t>
            </a:r>
            <a:r>
              <a:rPr sz="1300">
                <a:solidFill>
                  <a:srgbClr val="4A4838"/>
                </a:solidFill>
                <a:latin typeface="Segoe UI"/>
              </a:rPr>
              <a:t> — vérifiée par une assertion explicite à chaque pli : une même évaluation n'apparaît jamais à la fois en train et en test (25/25 plis conformes).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300" b="1">
                <a:solidFill>
                  <a:srgbClr val="FFE600"/>
                </a:solidFill>
                <a:latin typeface="Segoe UI"/>
              </a:rPr>
              <a:t>—  </a:t>
            </a:r>
            <a:r>
              <a:rPr sz="1300" b="1">
                <a:solidFill>
                  <a:srgbClr val="17160F"/>
                </a:solidFill>
                <a:latin typeface="Segoe UI"/>
              </a:rPr>
              <a:t>Tests de significativité</a:t>
            </a:r>
            <a:r>
              <a:rPr sz="1300">
                <a:solidFill>
                  <a:srgbClr val="4A4838"/>
                </a:solidFill>
                <a:latin typeface="Segoe UI"/>
              </a:rPr>
              <a:t> — Friedman (statistique = 44,95 ; p &lt; 0,0001) puis Wilcoxon apparié confirment que l'écart avec la référence heuristique n'est pas du bruit.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572000"/>
            <a:ext cx="1051560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4754880"/>
            <a:ext cx="987552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17160F"/>
                </a:solidFill>
                <a:latin typeface="Georgia"/>
              </a:rPr>
              <a:t>« L'écart entre les 3 modèles appris est statistiquement réel mais minime en pratique (moins de 0,002 point de NDCG@5). Ce qui compte pour la décision produit, c'est l'écart massif et sans ambiguïté avec la référence heuristique — c'est lui qui justifie le passage à l'IA. 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B876F"/>
                </a:solidFill>
                <a:latin typeface="Consolas"/>
              </a:rPr>
              <a:t>05 · RAG &amp; 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17160F"/>
                </a:solidFill>
                <a:latin typeface="Georgia"/>
              </a:rPr>
              <a:t>De la circulaire réglementaire à la proposition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55080"/>
            <a:ext cx="11002975" cy="9525"/>
          </a:xfrm>
          <a:prstGeom prst="rect">
            <a:avLst/>
          </a:prstGeom>
          <a:solidFill>
            <a:srgbClr val="E4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876F"/>
                </a:solidFill>
                <a:latin typeface="Consolas"/>
              </a:rPr>
              <a:t>DataPilot — EY Tunisie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25735" y="642823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876F"/>
                </a:solidFill>
                <a:latin typeface="Consolas"/>
              </a:rPr>
              <a:t>10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103120"/>
            <a:ext cx="148590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103120"/>
            <a:ext cx="130302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17160F"/>
                </a:solidFill>
                <a:latin typeface="Segoe UI"/>
              </a:rPr>
              <a:t>Import PDF</a:t>
            </a:r>
          </a:p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17160F"/>
                </a:solidFill>
                <a:latin typeface="Segoe UI"/>
              </a:rPr>
              <a:t>(FR / AR, OCR)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80260" y="2103120"/>
            <a:ext cx="32004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8B876F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00300" y="2103120"/>
            <a:ext cx="148590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91740" y="2103120"/>
            <a:ext cx="130302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17160F"/>
                </a:solidFill>
                <a:latin typeface="Segoe UI"/>
              </a:rPr>
              <a:t>Traduction FR</a:t>
            </a:r>
          </a:p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17160F"/>
                </a:solidFill>
                <a:latin typeface="Segoe UI"/>
              </a:rPr>
              <a:t>(si arabe)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2103120"/>
            <a:ext cx="32004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8B876F"/>
                </a:solidFill>
                <a:latin typeface="Segoe U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2103120"/>
            <a:ext cx="148590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97680" y="2103120"/>
            <a:ext cx="130302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17160F"/>
                </a:solidFill>
                <a:latin typeface="Segoe UI"/>
              </a:rPr>
              <a:t>Découpage en</a:t>
            </a:r>
          </a:p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17160F"/>
                </a:solidFill>
                <a:latin typeface="Segoe UI"/>
              </a:rPr>
              <a:t>sections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92140" y="2103120"/>
            <a:ext cx="32004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8B876F"/>
                </a:solidFill>
                <a:latin typeface="Segoe U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12180" y="2103120"/>
            <a:ext cx="148590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03620" y="2103120"/>
            <a:ext cx="130302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17160F"/>
                </a:solidFill>
                <a:latin typeface="Segoe UI"/>
              </a:rPr>
              <a:t>Recherche</a:t>
            </a:r>
          </a:p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17160F"/>
                </a:solidFill>
                <a:latin typeface="Segoe UI"/>
              </a:rPr>
              <a:t>vectorielle (RAG)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2103120"/>
            <a:ext cx="32004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8B876F"/>
                </a:solidFill>
                <a:latin typeface="Segoe U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2103120"/>
            <a:ext cx="148590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09560" y="2103120"/>
            <a:ext cx="130302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17160F"/>
                </a:solidFill>
                <a:latin typeface="Segoe UI"/>
              </a:rPr>
              <a:t>Analyse LLM</a:t>
            </a:r>
          </a:p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17160F"/>
                </a:solidFill>
                <a:latin typeface="Segoe UI"/>
              </a:rPr>
              <a:t>sous contrainte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4020" y="2103120"/>
            <a:ext cx="32004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8B876F"/>
                </a:solidFill>
                <a:latin typeface="Segoe U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24060" y="2103120"/>
            <a:ext cx="148590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715500" y="2103120"/>
            <a:ext cx="130302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17160F"/>
                </a:solidFill>
                <a:latin typeface="Segoe UI"/>
              </a:rPr>
              <a:t>Proposition</a:t>
            </a:r>
          </a:p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17160F"/>
                </a:solidFill>
                <a:latin typeface="Segoe UI"/>
              </a:rPr>
              <a:t>(jamais appliquée)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246120"/>
            <a:ext cx="5669280" cy="29260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200" b="1">
                <a:solidFill>
                  <a:srgbClr val="FFE600"/>
                </a:solidFill>
                <a:latin typeface="Segoe UI"/>
              </a:rPr>
              <a:t>—  </a:t>
            </a:r>
            <a:r>
              <a:rPr sz="1200" b="1">
                <a:solidFill>
                  <a:srgbClr val="17160F"/>
                </a:solidFill>
                <a:latin typeface="Segoe UI"/>
              </a:rPr>
              <a:t>pgvector</a:t>
            </a:r>
            <a:r>
              <a:rPr sz="1200">
                <a:solidFill>
                  <a:srgbClr val="4A4838"/>
                </a:solidFill>
                <a:latin typeface="Segoe UI"/>
              </a:rPr>
              <a:t> — recherche par similarité cosinus sur les questions/recommandations du référentiel, indexées en 1024 dimensions (bge-m3).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200" b="1">
                <a:solidFill>
                  <a:srgbClr val="FFE600"/>
                </a:solidFill>
                <a:latin typeface="Segoe UI"/>
              </a:rPr>
              <a:t>—  </a:t>
            </a:r>
            <a:r>
              <a:rPr sz="1200" b="1">
                <a:solidFill>
                  <a:srgbClr val="17160F"/>
                </a:solidFill>
                <a:latin typeface="Segoe UI"/>
              </a:rPr>
              <a:t>Prompt court et ciblé</a:t>
            </a:r>
            <a:r>
              <a:rPr sz="1200">
                <a:solidFill>
                  <a:srgbClr val="4A4838"/>
                </a:solidFill>
                <a:latin typeface="Segoe UI"/>
              </a:rPr>
              <a:t> — 4 questions + 6 recommandations candidates par section (contre 33 + 128 avant l'introduction du RAG).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200" b="1">
                <a:solidFill>
                  <a:srgbClr val="FFE600"/>
                </a:solidFill>
                <a:latin typeface="Segoe UI"/>
              </a:rPr>
              <a:t>—  </a:t>
            </a:r>
            <a:r>
              <a:rPr sz="1200" b="1">
                <a:solidFill>
                  <a:srgbClr val="17160F"/>
                </a:solidFill>
                <a:latin typeface="Segoe UI"/>
              </a:rPr>
              <a:t>Français pivot</a:t>
            </a:r>
            <a:r>
              <a:rPr sz="1200">
                <a:solidFill>
                  <a:srgbClr val="4A4838"/>
                </a:solidFill>
                <a:latin typeface="Segoe UI"/>
              </a:rPr>
              <a:t> — le FR/AR direct s'est révélé peu fiable (similarité ≈ bruit, mesuré empiriquement) ; requêtes traduites en français avant recherche.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20840" y="3246120"/>
            <a:ext cx="18288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85432" y="3374136"/>
            <a:ext cx="1499616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7160F"/>
                </a:solidFill>
                <a:latin typeface="Consolas"/>
              </a:rPr>
              <a:t>0,30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85432" y="3822192"/>
            <a:ext cx="1499616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8B876F"/>
                </a:solidFill>
                <a:latin typeface="Segoe UI"/>
              </a:rPr>
              <a:t>similarité FR↔AR</a:t>
            </a:r>
          </a:p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8B876F"/>
                </a:solidFill>
                <a:latin typeface="Segoe UI"/>
              </a:rPr>
              <a:t>(≈ bruit)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0" y="3246120"/>
            <a:ext cx="1828800" cy="1234440"/>
          </a:xfrm>
          <a:prstGeom prst="roundRect">
            <a:avLst>
              <a:gd name="adj" fmla="val 6000"/>
            </a:avLst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851392" y="3374136"/>
            <a:ext cx="1499616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7160F"/>
                </a:solidFill>
                <a:latin typeface="Consolas"/>
              </a:rPr>
              <a:t>0,70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51392" y="3822192"/>
            <a:ext cx="1499616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4A4838"/>
                </a:solidFill>
                <a:latin typeface="Segoe UI"/>
              </a:rPr>
              <a:t>similarité FR↔FR</a:t>
            </a:r>
          </a:p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4A4838"/>
                </a:solidFill>
                <a:latin typeface="Segoe UI"/>
              </a:rPr>
              <a:t>(même sujet)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20840" y="4617720"/>
            <a:ext cx="18288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85432" y="4745736"/>
            <a:ext cx="1499616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7160F"/>
                </a:solidFill>
                <a:latin typeface="Consolas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85432" y="5193792"/>
            <a:ext cx="1499616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8B876F"/>
                </a:solidFill>
                <a:latin typeface="Segoe UI"/>
              </a:rPr>
              <a:t>fournisseurs LLM</a:t>
            </a:r>
          </a:p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8B876F"/>
                </a:solidFill>
                <a:latin typeface="Segoe UI"/>
              </a:rPr>
              <a:t>(cloud + local)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0" y="4617720"/>
            <a:ext cx="18288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851392" y="4745736"/>
            <a:ext cx="1499616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7160F"/>
                </a:solidFill>
                <a:latin typeface="Consolas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51392" y="5193792"/>
            <a:ext cx="1499616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8B876F"/>
                </a:solidFill>
                <a:latin typeface="Segoe UI"/>
              </a:rPr>
              <a:t>types de</a:t>
            </a:r>
          </a:p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8B876F"/>
                </a:solidFill>
                <a:latin typeface="Segoe UI"/>
              </a:rPr>
              <a:t>proposition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B876F"/>
                </a:solidFill>
                <a:latin typeface="Consolas"/>
              </a:rPr>
              <a:t>06 · FIABILITÉ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17160F"/>
                </a:solidFill>
                <a:latin typeface="Georgia"/>
              </a:rPr>
              <a:t>Proposer, jamais appliquer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55080"/>
            <a:ext cx="11002975" cy="9525"/>
          </a:xfrm>
          <a:prstGeom prst="rect">
            <a:avLst/>
          </a:prstGeom>
          <a:solidFill>
            <a:srgbClr val="E4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876F"/>
                </a:solidFill>
                <a:latin typeface="Consolas"/>
              </a:rPr>
              <a:t>DataPilot — EY Tunisie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25735" y="642823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876F"/>
                </a:solidFill>
                <a:latin typeface="Consolas"/>
              </a:rPr>
              <a:t>11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57400"/>
            <a:ext cx="342900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240280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8B876F"/>
                </a:solidFill>
                <a:latin typeface="Consolas"/>
              </a:rPr>
              <a:t>GROUNDING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32888"/>
            <a:ext cx="306324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7160F"/>
                </a:solidFill>
                <a:latin typeface="Segoe UI"/>
              </a:rPr>
              <a:t>Jamais d'invention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26080"/>
            <a:ext cx="3063240" cy="1737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A4838"/>
                </a:solidFill>
                <a:latin typeface="Segoe UI"/>
              </a:rPr>
              <a:t>Chaque exigence extraite doit citer le texte source ; le LLM ne référence que des codes réellement proposés — jamais un code inventé.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9392" y="2057400"/>
            <a:ext cx="342900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62272" y="2240280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8B876F"/>
                </a:solidFill>
                <a:latin typeface="Consolas"/>
              </a:rPr>
              <a:t>DEGRADATION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2532888"/>
            <a:ext cx="306324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7160F"/>
                </a:solidFill>
                <a:latin typeface="Segoe UI"/>
              </a:rPr>
              <a:t>Toujours une réponse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2926080"/>
            <a:ext cx="3063240" cy="1737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A4838"/>
                </a:solidFill>
                <a:latin typeface="Segoe UI"/>
              </a:rPr>
              <a:t>Gemini (cloud) → repli local (Ollama) → gabarit déterministe. Trois niveaux, jamais de panne totale, jamais de blocage utilisateur.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64424" y="2057400"/>
            <a:ext cx="342900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47304" y="2240280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8B876F"/>
                </a:solidFill>
                <a:latin typeface="Consolas"/>
              </a:rPr>
              <a:t>VALIDATION HUMAINE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47304" y="2532888"/>
            <a:ext cx="306324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7160F"/>
                </a:solidFill>
                <a:latin typeface="Segoe UI"/>
              </a:rPr>
              <a:t>L'IA ne décide jamais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7304" y="2926080"/>
            <a:ext cx="3063240" cy="1737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A4838"/>
                </a:solidFill>
                <a:latin typeface="Segoe UI"/>
              </a:rPr>
              <a:t>Chaque proposition reste à l'état « en attente » tant qu'un expert ne l'a pas validée. Aucune écriture automatique sur le référentiel réel.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892040"/>
            <a:ext cx="3429000" cy="1188720"/>
          </a:xfrm>
          <a:prstGeom prst="roundRect">
            <a:avLst>
              <a:gd name="adj" fmla="val 6000"/>
            </a:avLst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8952" y="5020056"/>
            <a:ext cx="3099816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7160F"/>
                </a:solidFill>
                <a:latin typeface="Consolas"/>
              </a:rPr>
              <a:t>78,9 %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5422392"/>
            <a:ext cx="3099816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4A4838"/>
                </a:solidFill>
                <a:latin typeface="Segoe UI"/>
              </a:rPr>
              <a:t>propositions acceptées telles quelles</a:t>
            </a:r>
          </a:p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4A4838"/>
                </a:solidFill>
                <a:latin typeface="Segoe UI"/>
              </a:rPr>
              <a:t>par les experts (données réelles)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79392" y="4892040"/>
            <a:ext cx="342900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43984" y="5020056"/>
            <a:ext cx="3099816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7160F"/>
                </a:solidFill>
                <a:latin typeface="Consolas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984" y="5422392"/>
            <a:ext cx="3099816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8B876F"/>
                </a:solidFill>
                <a:latin typeface="Segoe UI"/>
              </a:rPr>
              <a:t>écriture automatique sur</a:t>
            </a:r>
          </a:p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8B876F"/>
                </a:solidFill>
                <a:latin typeface="Segoe UI"/>
              </a:rPr>
              <a:t>le référentiel réel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64424" y="4892040"/>
            <a:ext cx="3145536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29016" y="5020056"/>
            <a:ext cx="2816352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7160F"/>
                </a:solidFill>
                <a:latin typeface="Consolas"/>
              </a:rP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29016" y="5422392"/>
            <a:ext cx="2816352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8B876F"/>
                </a:solidFill>
                <a:latin typeface="Segoe UI"/>
              </a:rPr>
              <a:t>circulaires réglementaires</a:t>
            </a:r>
          </a:p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8B876F"/>
                </a:solidFill>
                <a:latin typeface="Segoe UI"/>
              </a:rPr>
              <a:t>déjà traitées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B876F"/>
                </a:solidFill>
                <a:latin typeface="Consolas"/>
              </a:rPr>
              <a:t>07 · CAS D'USAGE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17160F"/>
                </a:solidFill>
                <a:latin typeface="Georgia"/>
              </a:rPr>
              <a:t>Ce que DataPilot permet de faire, au quotidien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55080"/>
            <a:ext cx="11002975" cy="9525"/>
          </a:xfrm>
          <a:prstGeom prst="rect">
            <a:avLst/>
          </a:prstGeom>
          <a:solidFill>
            <a:srgbClr val="E4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876F"/>
                </a:solidFill>
                <a:latin typeface="Consolas"/>
              </a:rPr>
              <a:t>DataPilot — EY Tunisie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25735" y="642823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876F"/>
                </a:solidFill>
                <a:latin typeface="Consolas"/>
              </a:rPr>
              <a:t>12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57400"/>
            <a:ext cx="51663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7160F"/>
                </a:solidFill>
                <a:latin typeface="Segoe UI"/>
              </a:rPr>
              <a:t>Diagnostic de maturité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60320"/>
            <a:ext cx="480060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A4838"/>
                </a:solidFill>
                <a:latin typeface="Segoe UI"/>
              </a:rPr>
              <a:t>Questionnaire structuré (32 questions, 6 dimensions), progression sauvegardée automatiquement.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057400"/>
            <a:ext cx="51663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2194560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7160F"/>
                </a:solidFill>
                <a:latin typeface="Segoe UI"/>
              </a:rPr>
              <a:t>Tableau de bord &amp; scoring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560320"/>
            <a:ext cx="480060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A4838"/>
                </a:solidFill>
                <a:latin typeface="Segoe UI"/>
              </a:rPr>
              <a:t>Score global, scores par dimension, positionnement sur 5 niveaux, historique des évaluations.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474720"/>
            <a:ext cx="51663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611880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7160F"/>
                </a:solidFill>
                <a:latin typeface="Segoe UI"/>
              </a:rPr>
              <a:t>Plan d'action priorisé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977640"/>
            <a:ext cx="480060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A4838"/>
                </a:solidFill>
                <a:latin typeface="Segoe UI"/>
              </a:rPr>
              <a:t>Recommandations classées par IA, justifiées, exportables en rapport PDF.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474720"/>
            <a:ext cx="51663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3611880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7160F"/>
                </a:solidFill>
                <a:latin typeface="Segoe UI"/>
              </a:rPr>
              <a:t>Veille réglementaire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977640"/>
            <a:ext cx="480060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A4838"/>
                </a:solidFill>
                <a:latin typeface="Segoe UI"/>
              </a:rPr>
              <a:t>Import de circulaires (PDF, FR/AR), analyse automatique, revue experte avant publication.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892040"/>
            <a:ext cx="51663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5029200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7160F"/>
                </a:solidFill>
                <a:latin typeface="Segoe UI"/>
              </a:rPr>
              <a:t>Back-office complet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394960"/>
            <a:ext cx="480060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A4838"/>
                </a:solidFill>
                <a:latin typeface="Segoe UI"/>
              </a:rPr>
              <a:t>Gestion des banques, utilisateurs, référentiel, versions du framework, paramètres.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892040"/>
            <a:ext cx="51663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0" y="5029200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7160F"/>
                </a:solidFill>
                <a:latin typeface="Segoe UI"/>
              </a:rPr>
              <a:t>Audit &amp; traçabilité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394960"/>
            <a:ext cx="480060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A4838"/>
                </a:solidFill>
                <a:latin typeface="Segoe UI"/>
              </a:rPr>
              <a:t>Historique des actions administrateur, notifications, contrôle d'accès par rôle.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B876F"/>
                </a:solidFill>
                <a:latin typeface="Consolas"/>
              </a:rPr>
              <a:t>07 · GOUVERNANCE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17160F"/>
                </a:solidFill>
                <a:latin typeface="Georgia"/>
              </a:rPr>
              <a:t>Une plateforme pensée pour un usage bancaire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55080"/>
            <a:ext cx="11002975" cy="9525"/>
          </a:xfrm>
          <a:prstGeom prst="rect">
            <a:avLst/>
          </a:prstGeom>
          <a:solidFill>
            <a:srgbClr val="E4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876F"/>
                </a:solidFill>
                <a:latin typeface="Consolas"/>
              </a:rPr>
              <a:t>DataPilot — EY Tunisie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25735" y="642823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876F"/>
                </a:solidFill>
                <a:latin typeface="Consolas"/>
              </a:rPr>
              <a:t>13 /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03120"/>
            <a:ext cx="10515600" cy="39319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300" b="1">
                <a:solidFill>
                  <a:srgbClr val="FFE600"/>
                </a:solidFill>
                <a:latin typeface="Segoe UI"/>
              </a:rPr>
              <a:t>—  </a:t>
            </a:r>
            <a:r>
              <a:rPr sz="1300" b="1">
                <a:solidFill>
                  <a:srgbClr val="17160F"/>
                </a:solidFill>
                <a:latin typeface="Segoe UI"/>
              </a:rPr>
              <a:t>Authentification &amp; accès</a:t>
            </a:r>
            <a:r>
              <a:rPr sz="1300">
                <a:solidFill>
                  <a:srgbClr val="4A4838"/>
                </a:solidFill>
                <a:latin typeface="Segoe UI"/>
              </a:rPr>
              <a:t> — SSO Keycloak, contrôle d'accès par rôle (banque, admin, super-admin), thème de connexion EY sur-mesure.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300" b="1">
                <a:solidFill>
                  <a:srgbClr val="FFE600"/>
                </a:solidFill>
                <a:latin typeface="Segoe UI"/>
              </a:rPr>
              <a:t>—  </a:t>
            </a:r>
            <a:r>
              <a:rPr sz="1300" b="1">
                <a:solidFill>
                  <a:srgbClr val="17160F"/>
                </a:solidFill>
                <a:latin typeface="Segoe UI"/>
              </a:rPr>
              <a:t>Traçabilité</a:t>
            </a:r>
            <a:r>
              <a:rPr sz="1300">
                <a:solidFill>
                  <a:srgbClr val="4A4838"/>
                </a:solidFill>
                <a:latin typeface="Segoe UI"/>
              </a:rPr>
              <a:t> — chaque action d'administration est journalisée (piste d'audit interrogeable, jamais modifiable a posteriori).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300" b="1">
                <a:solidFill>
                  <a:srgbClr val="FFE600"/>
                </a:solidFill>
                <a:latin typeface="Segoe UI"/>
              </a:rPr>
              <a:t>—  </a:t>
            </a:r>
            <a:r>
              <a:rPr sz="1300" b="1">
                <a:solidFill>
                  <a:srgbClr val="17160F"/>
                </a:solidFill>
                <a:latin typeface="Segoe UI"/>
              </a:rPr>
              <a:t>Confidentialité des données bancaires</a:t>
            </a:r>
            <a:r>
              <a:rPr sz="1300">
                <a:solidFill>
                  <a:srgbClr val="4A4838"/>
                </a:solidFill>
                <a:latin typeface="Segoe UI"/>
              </a:rPr>
              <a:t> — les fonctionnalités IA côté banque (reformulation, narration) tournent en local (Ollama), aucune donnée bancaire n'est envoyée à un service tiers.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300" b="1">
                <a:solidFill>
                  <a:srgbClr val="FFE600"/>
                </a:solidFill>
                <a:latin typeface="Segoe UI"/>
              </a:rPr>
              <a:t>—  </a:t>
            </a:r>
            <a:r>
              <a:rPr sz="1300" b="1">
                <a:solidFill>
                  <a:srgbClr val="17160F"/>
                </a:solidFill>
                <a:latin typeface="Segoe UI"/>
              </a:rPr>
              <a:t>Robustesse d'ingénierie</a:t>
            </a:r>
            <a:r>
              <a:rPr sz="1300">
                <a:solidFill>
                  <a:srgbClr val="4A4838"/>
                </a:solidFill>
                <a:latin typeface="Segoe UI"/>
              </a:rPr>
              <a:t> — 33 migrations de schéma versionnées, garde-fou SSRF sur les imports par URL, cohérence train/serve pour le modèle ML.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300" b="1">
                <a:solidFill>
                  <a:srgbClr val="FFE600"/>
                </a:solidFill>
                <a:latin typeface="Segoe UI"/>
              </a:rPr>
              <a:t>—  </a:t>
            </a:r>
            <a:r>
              <a:rPr sz="1300" b="1">
                <a:solidFill>
                  <a:srgbClr val="17160F"/>
                </a:solidFill>
                <a:latin typeface="Segoe UI"/>
              </a:rPr>
              <a:t>Rapports exportables</a:t>
            </a:r>
            <a:r>
              <a:rPr sz="1300">
                <a:solidFill>
                  <a:srgbClr val="4A4838"/>
                </a:solidFill>
                <a:latin typeface="Segoe UI"/>
              </a:rPr>
              <a:t> — génération PDF (WeasyPrint) et export Excel pour les livrables destinés aux directions métier.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B876F"/>
                </a:solidFill>
                <a:latin typeface="Consolas"/>
              </a:rPr>
              <a:t>08 · CHIFFRES CLÉS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17160F"/>
                </a:solidFill>
                <a:latin typeface="Georgia"/>
              </a:rPr>
              <a:t>Le projet, en un coup d'œil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55080"/>
            <a:ext cx="11002975" cy="9525"/>
          </a:xfrm>
          <a:prstGeom prst="rect">
            <a:avLst/>
          </a:prstGeom>
          <a:solidFill>
            <a:srgbClr val="E4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876F"/>
                </a:solidFill>
                <a:latin typeface="Consolas"/>
              </a:rPr>
              <a:t>DataPilot — EY Tunisie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25735" y="642823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876F"/>
                </a:solidFill>
                <a:latin typeface="Consolas"/>
              </a:rPr>
              <a:t>14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103120"/>
            <a:ext cx="2542032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2231136"/>
            <a:ext cx="2212848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7160F"/>
                </a:solidFill>
                <a:latin typeface="Consolas"/>
              </a:rPr>
              <a:t>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862072"/>
            <a:ext cx="2212848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8B876F"/>
                </a:solidFill>
                <a:latin typeface="Segoe UI"/>
              </a:rPr>
              <a:t>pages applicatives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64408" y="2103120"/>
            <a:ext cx="2542032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29000" y="2231136"/>
            <a:ext cx="2212848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7160F"/>
                </a:solidFill>
                <a:latin typeface="Consolas"/>
              </a:rPr>
              <a:t>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862072"/>
            <a:ext cx="2212848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8B876F"/>
                </a:solidFill>
                <a:latin typeface="Segoe UI"/>
              </a:rPr>
              <a:t>familles d'endpoints 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34456" y="2103120"/>
            <a:ext cx="2542032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99048" y="2231136"/>
            <a:ext cx="2212848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7160F"/>
                </a:solidFill>
                <a:latin typeface="Consolas"/>
              </a:rPr>
              <a:t>33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9048" y="2862072"/>
            <a:ext cx="2212848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8B876F"/>
                </a:solidFill>
                <a:latin typeface="Segoe UI"/>
              </a:rPr>
              <a:t>migrations de schéma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04504" y="2103120"/>
            <a:ext cx="2542032" cy="1417320"/>
          </a:xfrm>
          <a:prstGeom prst="roundRect">
            <a:avLst>
              <a:gd name="adj" fmla="val 6000"/>
            </a:avLst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69096" y="2231136"/>
            <a:ext cx="2212848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7160F"/>
                </a:solidFill>
                <a:latin typeface="Consolas"/>
              </a:rPr>
              <a:t>0,98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9096" y="2862072"/>
            <a:ext cx="2212848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4A4838"/>
                </a:solidFill>
                <a:latin typeface="Segoe UI"/>
              </a:rPr>
              <a:t>NDCG@5 du modèle de ranking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703320"/>
            <a:ext cx="2542032" cy="1417320"/>
          </a:xfrm>
          <a:prstGeom prst="roundRect">
            <a:avLst>
              <a:gd name="adj" fmla="val 6000"/>
            </a:avLst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8952" y="3831336"/>
            <a:ext cx="2212848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7160F"/>
                </a:solidFill>
                <a:latin typeface="Consolas"/>
              </a:rPr>
              <a:t>78,9 %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4462272"/>
            <a:ext cx="2212848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4A4838"/>
                </a:solidFill>
                <a:latin typeface="Segoe UI"/>
              </a:rPr>
              <a:t>propositions IA validées telles quelles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64408" y="3703320"/>
            <a:ext cx="2542032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429000" y="3831336"/>
            <a:ext cx="2212848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7160F"/>
                </a:solidFill>
                <a:latin typeface="Consolas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4462272"/>
            <a:ext cx="2212848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8B876F"/>
                </a:solidFill>
                <a:latin typeface="Segoe UI"/>
              </a:rPr>
              <a:t>fournisseurs LLM (cloud + local)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34456" y="3703320"/>
            <a:ext cx="2542032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99048" y="3831336"/>
            <a:ext cx="2212848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7160F"/>
                </a:solidFill>
                <a:latin typeface="Consolas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9048" y="4462272"/>
            <a:ext cx="2212848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8B876F"/>
                </a:solidFill>
                <a:latin typeface="Segoe UI"/>
              </a:rPr>
              <a:t>dimensions de maturité évaluées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04504" y="3703320"/>
            <a:ext cx="2542032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769096" y="3831336"/>
            <a:ext cx="2212848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7160F"/>
                </a:solidFill>
                <a:latin typeface="Consolas"/>
              </a:rPr>
              <a:t>1024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69096" y="4462272"/>
            <a:ext cx="2212848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8B876F"/>
                </a:solidFill>
                <a:latin typeface="Segoe UI"/>
              </a:rPr>
              <a:t>dimensions des embeddings (bge-m3)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B876F"/>
                </a:solidFill>
                <a:latin typeface="Consolas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17160F"/>
                </a:solidFill>
                <a:latin typeface="Georgia"/>
              </a:rPr>
              <a:t>Une plateforme complète, une IA défendable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55080"/>
            <a:ext cx="11002975" cy="9525"/>
          </a:xfrm>
          <a:prstGeom prst="rect">
            <a:avLst/>
          </a:prstGeom>
          <a:solidFill>
            <a:srgbClr val="E4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876F"/>
                </a:solidFill>
                <a:latin typeface="Consolas"/>
              </a:rPr>
              <a:t>DataPilot — EY Tunisie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25735" y="642823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876F"/>
                </a:solidFill>
                <a:latin typeface="Consolas"/>
              </a:rPr>
              <a:t>15 /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03120"/>
            <a:ext cx="10515600" cy="23774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400" b="1">
                <a:solidFill>
                  <a:srgbClr val="FFE600"/>
                </a:solidFill>
                <a:latin typeface="Segoe UI"/>
              </a:rPr>
              <a:t>—  </a:t>
            </a:r>
            <a:r>
              <a:rPr sz="1400" b="1">
                <a:solidFill>
                  <a:srgbClr val="17160F"/>
                </a:solidFill>
                <a:latin typeface="Segoe UI"/>
              </a:rPr>
              <a:t>Un diagnostic qui va au-delà du score</a:t>
            </a:r>
            <a:r>
              <a:rPr sz="1400">
                <a:solidFill>
                  <a:srgbClr val="4A4838"/>
                </a:solidFill>
                <a:latin typeface="Segoe UI"/>
              </a:rPr>
              <a:t> — priorisation, justification, suivi dans le temps.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400" b="1">
                <a:solidFill>
                  <a:srgbClr val="FFE600"/>
                </a:solidFill>
                <a:latin typeface="Segoe UI"/>
              </a:rPr>
              <a:t>—  </a:t>
            </a:r>
            <a:r>
              <a:rPr sz="1400" b="1">
                <a:solidFill>
                  <a:srgbClr val="17160F"/>
                </a:solidFill>
                <a:latin typeface="Segoe UI"/>
              </a:rPr>
              <a:t>Une IA validée, pas supposée</a:t>
            </a:r>
            <a:r>
              <a:rPr sz="1400">
                <a:solidFill>
                  <a:srgbClr val="4A4838"/>
                </a:solidFill>
                <a:latin typeface="Segoe UI"/>
              </a:rPr>
              <a:t> — méthodologie de test rigoureuse côté ranking, garde-fous structurels côté génération.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400" b="1">
                <a:solidFill>
                  <a:srgbClr val="FFE600"/>
                </a:solidFill>
                <a:latin typeface="Segoe UI"/>
              </a:rPr>
              <a:t>—  </a:t>
            </a:r>
            <a:r>
              <a:rPr sz="1400" b="1">
                <a:solidFill>
                  <a:srgbClr val="17160F"/>
                </a:solidFill>
                <a:latin typeface="Segoe UI"/>
              </a:rPr>
              <a:t>Une gouvernance pensée pour la banque</a:t>
            </a:r>
            <a:r>
              <a:rPr sz="1400">
                <a:solidFill>
                  <a:srgbClr val="4A4838"/>
                </a:solidFill>
                <a:latin typeface="Segoe UI"/>
              </a:rPr>
              <a:t> — validation humaine systématique, traçabilité, confidentialité des données.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2062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B876F"/>
                </a:solidFill>
                <a:latin typeface="Consolas"/>
              </a:rPr>
              <a:t>PERSPECTIVES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72000"/>
            <a:ext cx="10515600" cy="16459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250" b="1">
                <a:solidFill>
                  <a:srgbClr val="FFE600"/>
                </a:solidFill>
                <a:latin typeface="Segoe UI"/>
              </a:rPr>
              <a:t>—  </a:t>
            </a:r>
            <a:r>
              <a:rPr sz="1250">
                <a:solidFill>
                  <a:srgbClr val="4A4838"/>
                </a:solidFill>
                <a:latin typeface="Segoe UI"/>
              </a:rPr>
              <a:t>Élargir la validation de la veille réglementaire à un plus grand nombre de circulaires traitées.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250" b="1">
                <a:solidFill>
                  <a:srgbClr val="FFE600"/>
                </a:solidFill>
                <a:latin typeface="Segoe UI"/>
              </a:rPr>
              <a:t>—  </a:t>
            </a:r>
            <a:r>
              <a:rPr sz="1250">
                <a:solidFill>
                  <a:srgbClr val="4A4838"/>
                </a:solidFill>
                <a:latin typeface="Segoe UI"/>
              </a:rPr>
              <a:t>Construire une évaluation formelle du rappel (recall@k) de la recherche vectorielle.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250" b="1">
                <a:solidFill>
                  <a:srgbClr val="FFE600"/>
                </a:solidFill>
                <a:latin typeface="Segoe UI"/>
              </a:rPr>
              <a:t>—  </a:t>
            </a:r>
            <a:r>
              <a:rPr sz="1250">
                <a:solidFill>
                  <a:srgbClr val="4A4838"/>
                </a:solidFill>
                <a:latin typeface="Segoe UI"/>
              </a:rPr>
              <a:t>Déploiement pilote auprès d'une première banque partenaire.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 rot="20400000">
            <a:off x="-1828800" y="3200400"/>
            <a:ext cx="5486400" cy="5486400"/>
          </a:xfrm>
          <a:prstGeom prst="parallelogram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0"/>
            <a:ext cx="914400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4000" b="0" i="0">
                <a:solidFill>
                  <a:srgbClr val="FFFFFF"/>
                </a:solidFill>
                <a:latin typeface="Georgia"/>
              </a:rPr>
              <a:t>Merci de votre attention.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7947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C9C5B2"/>
                </a:solidFill>
                <a:latin typeface="Segoe UI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0350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9C5B2"/>
                </a:solidFill>
                <a:latin typeface="Consolas"/>
              </a:rPr>
              <a:t>DataPilot — EY Tunisie — Malek Abdellaoui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1677</Words>
  <Application>Microsoft Office PowerPoint</Application>
  <PresentationFormat>Grand écran</PresentationFormat>
  <Paragraphs>278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Consolas</vt:lpstr>
      <vt:lpstr>Georgia</vt:lpstr>
      <vt:lpstr>Segoe UI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Malek ABDELLAOUI</cp:lastModifiedBy>
  <cp:revision>2</cp:revision>
  <dcterms:created xsi:type="dcterms:W3CDTF">2013-01-27T09:14:16Z</dcterms:created>
  <dcterms:modified xsi:type="dcterms:W3CDTF">2026-09-08T23:16:31Z</dcterms:modified>
  <cp:category/>
</cp:coreProperties>
</file>